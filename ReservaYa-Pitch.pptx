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DD7A8"/>
              </a:solidFill>
              <a:ln w="25400" cap="flat">
                <a:solidFill>
                  <a:srgbClr val="08152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9F43"/>
              </a:solidFill>
              <a:ln w="25400" cap="flat">
                <a:solidFill>
                  <a:srgbClr val="081523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FA8D0"/>
              </a:solidFill>
              <a:ln w="25400" cap="flat">
                <a:solidFill>
                  <a:srgbClr val="08152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Comisión</c:v>
                </c:pt>
                <c:pt idx="1">
                  <c:v>Suscripción</c:v>
                </c:pt>
                <c:pt idx="2">
                  <c:v>Datos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55</c:v>
                </c:pt>
                <c:pt idx="1">
                  <c:v>35</c:v>
                </c:pt>
                <c:pt idx="2">
                  <c:v>10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8FA6C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DD7A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08760" y="7772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ReservaYa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cupo que reservas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31012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 el cupo que </a:t>
            </a:r>
            <a:pPr indent="0" marL="0">
              <a:buNone/>
            </a:pPr>
            <a:r>
              <a:rPr lang="en-US" sz="6000" b="1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viajas</a:t>
            </a:r>
            <a:pPr indent="0" marL="0">
              <a:buNone/>
            </a:pPr>
            <a:r>
              <a:rPr lang="en-US" sz="60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41248" y="4526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transporte intermunicipal para Colombia. Sin doble venta, con asiento garantizado y comprobante real.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 A INVERSIONISTAS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86384"/>
            <a:ext cx="118872" cy="118872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6949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PROBLEMA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Comprar un pasaje de bus en Colombia</a:t>
            </a:r>
            <a:endParaRPr lang="en-US" sz="3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sigue siendo un acto de fe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4965192" cy="1691640"/>
          </a:xfrm>
          <a:prstGeom prst="roundRect">
            <a:avLst>
              <a:gd name="adj" fmla="val 4865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999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Pagas sin comprobante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49300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Llamada, taquilla o efectivo a un tercero. Si algo sale mal, no hay nada que reclamar.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743200"/>
            <a:ext cx="4965192" cy="1691640"/>
          </a:xfrm>
          <a:prstGeom prst="roundRect">
            <a:avLst>
              <a:gd name="adj" fmla="val 4865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999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mismo asiento, dos veces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20840" y="349300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vende dos veces y la pelea se resuelve en la fila de abordaje, no antes.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709160"/>
            <a:ext cx="4965192" cy="1691640"/>
          </a:xfrm>
          <a:prstGeom prst="roundRect">
            <a:avLst>
              <a:gd name="adj" fmla="val 4865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49651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eliges asiento por fecha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545896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disponibilidad de cada día vive en la cabeza del taquillero, no en un sistema.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4709160"/>
            <a:ext cx="4965192" cy="1691640"/>
          </a:xfrm>
          <a:prstGeom prst="roundRect">
            <a:avLst>
              <a:gd name="adj" fmla="val 4865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49651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operador vuela a ciegas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545896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qué rutas llenan, a qué hora, ni cuánto deja cada silla.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86384"/>
            <a:ext cx="118872" cy="118872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6949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MERCADO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mercado enorme que todavía corre en papel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447288" cy="2331720"/>
          </a:xfrm>
          <a:prstGeom prst="roundRect">
            <a:avLst>
              <a:gd name="adj" fmla="val 3529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468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+3.000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115568" y="345643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de transporte intermunicipal habilitadas en el país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690872" y="2194560"/>
            <a:ext cx="3447288" cy="2331720"/>
          </a:xfrm>
          <a:prstGeom prst="roundRect">
            <a:avLst>
              <a:gd name="adj" fmla="val 3529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2468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~300M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983480" y="345643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por terminales al año, la mayoría sin asiento garantizado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558784" y="2194560"/>
            <a:ext cx="3447288" cy="2331720"/>
          </a:xfrm>
          <a:prstGeom prst="roundRect">
            <a:avLst>
              <a:gd name="adj" fmla="val 3529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33104" y="2468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851392" y="345643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con reserva digital de asiento por fecha, como en un vuelo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digitalización llegó al avión hace veinte años. </a:t>
            </a:r>
            <a:pPr indent="0" marL="0">
              <a:buNone/>
            </a:pPr>
            <a:r>
              <a:rPr lang="en-US" sz="1800" b="1" dirty="0">
                <a:solidFill>
                  <a:srgbClr val="EC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bus intermunicipal todavía no.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contexto del sector; orden de magnitud, no auditadas.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86384"/>
            <a:ext cx="118872" cy="118872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6949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SOLUCIÓN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asiento es tuyo desde que </a:t>
            </a:r>
            <a:pPr indent="0" marL="0">
              <a:buNone/>
            </a:pPr>
            <a:r>
              <a:rPr lang="en-US" sz="3400" b="1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pagas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670048"/>
            <a:ext cx="457200" cy="457200"/>
          </a:xfrm>
          <a:prstGeom prst="ellipse">
            <a:avLst/>
          </a:prstGeom>
          <a:solidFill>
            <a:srgbClr val="081523"/>
          </a:solidFill>
          <a:ln w="19050">
            <a:solidFill>
              <a:srgbClr val="4DD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48716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Ves el bus real de ese día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920240" y="29260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Eliges ruta y fecha, y la app te muestra los asientos que de verdad están libres ese día específico.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43000" y="4087368"/>
            <a:ext cx="457200" cy="457200"/>
          </a:xfrm>
          <a:prstGeom prst="ellipse">
            <a:avLst/>
          </a:prstGeom>
          <a:solidFill>
            <a:srgbClr val="081523"/>
          </a:solidFill>
          <a:ln w="19050">
            <a:solidFill>
              <a:srgbClr val="4DD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390448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Reservas, pagas, te llega la factura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920240" y="434340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al correo con los datos del viaje y lo que pagaste. Una promesa no, un documento.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12064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43000" y="5504688"/>
            <a:ext cx="457200" cy="457200"/>
          </a:xfrm>
          <a:prstGeom prst="ellipse">
            <a:avLst/>
          </a:prstGeom>
          <a:solidFill>
            <a:srgbClr val="081523"/>
          </a:solidFill>
          <a:ln w="19050">
            <a:solidFill>
              <a:srgbClr val="4DD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53218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operador controla todo desde un panel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920240" y="576072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Rutas, precios y cupos en un lugar. Y por fin ve la ocupación en vivo.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86384"/>
            <a:ext cx="118872" cy="118872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6949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FUNCIONA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Tres pasos para el pasajero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447288" cy="2743200"/>
          </a:xfrm>
          <a:prstGeom prst="roundRect">
            <a:avLst>
              <a:gd name="adj" fmla="val 3000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15568" y="2542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33856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Elige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33856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Ruta, fecha y un asiento que está libre ese día.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690872" y="2286000"/>
            <a:ext cx="3447288" cy="2743200"/>
          </a:xfrm>
          <a:prstGeom prst="roundRect">
            <a:avLst>
              <a:gd name="adj" fmla="val 3000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2542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01768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001768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y paga en segundos.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82712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558784" y="2286000"/>
            <a:ext cx="3447288" cy="2743200"/>
          </a:xfrm>
          <a:prstGeom prst="roundRect">
            <a:avLst>
              <a:gd name="adj" fmla="val 3000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51392" y="2542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86968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Viaja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869680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al correo. El cupo ya es tuyo.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86384"/>
            <a:ext cx="118872" cy="118872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6949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VENTAJA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Nunca vendemos el mismo asiento dos veces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6126480" cy="3520440"/>
          </a:xfrm>
          <a:prstGeom prst="roundRect">
            <a:avLst>
              <a:gd name="adj" fmla="val 2338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624328"/>
            <a:ext cx="128016" cy="128016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4871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 personas, mismo asiento, mismo milisegundo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7320" y="2907792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una gana. Siempre. La otra recibe “ese cupo ya no está” al instante.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43000" y="3675888"/>
            <a:ext cx="128016" cy="128016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5387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Doble candado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3959352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en la base de datos más una regla única por ruta, asiento y fecha.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43000" y="4727448"/>
            <a:ext cx="128016" cy="128016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45902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Probado bajo fuego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17320" y="5010912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reservas simultáneas sobre el mismo cupo: cero dobles ventas.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178040" y="2240280"/>
            <a:ext cx="4160520" cy="3520440"/>
          </a:xfrm>
          <a:prstGeom prst="roundRect">
            <a:avLst>
              <a:gd name="adj" fmla="val 2338"/>
            </a:avLst>
          </a:prstGeom>
          <a:solidFill>
            <a:srgbClr val="0D2A22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2468880"/>
            <a:ext cx="4160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0" dirty="0"/>
          </a:p>
        </p:txBody>
      </p:sp>
      <p:sp>
        <p:nvSpPr>
          <p:cNvPr id="17" name="Text 15"/>
          <p:cNvSpPr/>
          <p:nvPr/>
        </p:nvSpPr>
        <p:spPr>
          <a:xfrm>
            <a:off x="7178040" y="4069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dobles ventas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78040" y="4572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pruebas de concurrencia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doble-booking no es un error que toleramos. </a:t>
            </a:r>
            <a:pPr indent="0" marL="0">
              <a:buNone/>
            </a:pPr>
            <a:r>
              <a:rPr lang="en-US" sz="1700" b="1" dirty="0">
                <a:solidFill>
                  <a:srgbClr val="4DD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imposible por diseño.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86384"/>
            <a:ext cx="118872" cy="118872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6949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ES UN PROTOTIPO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Hecho para producción, no para una demo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4965192" cy="1645920"/>
          </a:xfrm>
          <a:prstGeom prst="roundRect">
            <a:avLst>
              <a:gd name="adj" fmla="val 5000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5328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Respaldos automáticos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0175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cifrada de la base cada hora. Si algo se cae, los datos vuelven.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4965192" cy="1645920"/>
          </a:xfrm>
          <a:prstGeom prst="roundRect">
            <a:avLst>
              <a:gd name="adj" fmla="val 5000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5328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Monitoreo en vivo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20840" y="30175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toda la infraestructura visible en tiempo real.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206240"/>
            <a:ext cx="4965192" cy="1645920"/>
          </a:xfrm>
          <a:prstGeom prst="roundRect">
            <a:avLst>
              <a:gd name="adj" fmla="val 5000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44531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Despliegue en minutos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49377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máquina nueva levanta el sistema completo con un comando.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4206240"/>
            <a:ext cx="4965192" cy="1645920"/>
          </a:xfrm>
          <a:prstGeom prst="roundRect">
            <a:avLst>
              <a:gd name="adj" fmla="val 5000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44531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se cae en cadena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49377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correo falla, la reserva sigue en pie. Cada parte es independiente.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E86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Construido sobre FastAPI · MySQL · Redis · RabbitMQ · Docker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86384"/>
            <a:ext cx="118872" cy="118872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6949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FUNCIONA POR DENTRO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pasa cuando alguien reserva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2542032" cy="3017520"/>
          </a:xfrm>
          <a:prstGeom prst="roundRect">
            <a:avLst>
              <a:gd name="adj" fmla="val 3237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5237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78992" y="32004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Usuario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3767328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ruta, fecha y asiento. Confirma y paga.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28416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29584" y="2286000"/>
            <a:ext cx="2542032" cy="3017520"/>
          </a:xfrm>
          <a:prstGeom prst="roundRect">
            <a:avLst>
              <a:gd name="adj" fmla="val 3237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85616" y="25237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85616" y="32004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· FastAPI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85616" y="3767328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Valida, bloquea el cupo y lo guarda. Responde en milisegundos.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35040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6208" y="2286000"/>
            <a:ext cx="2542032" cy="3017520"/>
          </a:xfrm>
          <a:prstGeom prst="roundRect">
            <a:avLst>
              <a:gd name="adj" fmla="val 3237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25237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92240" y="32004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767328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guarda la reserva. Redis lleva sesión y caché. RabbitMQ encola el evento.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41664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9F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942832" y="2286000"/>
            <a:ext cx="2542032" cy="3017520"/>
          </a:xfrm>
          <a:prstGeom prst="roundRect">
            <a:avLst>
              <a:gd name="adj" fmla="val 3237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98864" y="25237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98864" y="32004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98864" y="3767328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el evento de la cola y envía la factura por correo.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" y="562356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0D2A22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43000" y="5623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DD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Desacoplado a propósito:  </a:t>
            </a:r>
            <a:pPr indent="0" marL="0">
              <a:buNone/>
            </a:pPr>
            <a:r>
              <a:rPr lang="en-US" sz="1450" dirty="0">
                <a:solidFill>
                  <a:srgbClr val="EC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reserva se confirma al instante y el correo sale por detrás. Si el correo falla, la reserva no se cae.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86384"/>
            <a:ext cx="118872" cy="118872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6949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QUÉ TRAE EL SISTEMA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ya está construido y funcionando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138928" cy="841248"/>
          </a:xfrm>
          <a:prstGeom prst="roundRect">
            <a:avLst>
              <a:gd name="adj" fmla="val 9783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459736"/>
            <a:ext cx="146304" cy="146304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267712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Cuentas y sesiones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71600" y="259689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login y sesión con token en Redis.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2148840"/>
            <a:ext cx="5138928" cy="841248"/>
          </a:xfrm>
          <a:prstGeom prst="roundRect">
            <a:avLst>
              <a:gd name="adj" fmla="val 9783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5664" y="2459736"/>
            <a:ext cx="146304" cy="146304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11" name="Text 9"/>
          <p:cNvSpPr/>
          <p:nvPr/>
        </p:nvSpPr>
        <p:spPr>
          <a:xfrm>
            <a:off x="6748272" y="2267712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Asiento por fecha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748272" y="259689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real de cada día, no global.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99816"/>
            <a:ext cx="5138928" cy="841248"/>
          </a:xfrm>
          <a:prstGeom prst="roundRect">
            <a:avLst>
              <a:gd name="adj" fmla="val 9783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8992" y="3410712"/>
            <a:ext cx="146304" cy="146304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218688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Concurrencia segura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71600" y="3547872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+ índice único: nunca dos veces el mismo cupo.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99632" y="3099816"/>
            <a:ext cx="5138928" cy="841248"/>
          </a:xfrm>
          <a:prstGeom prst="roundRect">
            <a:avLst>
              <a:gd name="adj" fmla="val 9783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5664" y="3410712"/>
            <a:ext cx="146304" cy="146304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19" name="Text 17"/>
          <p:cNvSpPr/>
          <p:nvPr/>
        </p:nvSpPr>
        <p:spPr>
          <a:xfrm>
            <a:off x="6748272" y="3218688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Factura por correo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748272" y="3547872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automático y asíncrono vía SMTP.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050792"/>
            <a:ext cx="5138928" cy="841248"/>
          </a:xfrm>
          <a:prstGeom prst="roundRect">
            <a:avLst>
              <a:gd name="adj" fmla="val 9783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78992" y="4361688"/>
            <a:ext cx="146304" cy="146304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169664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Comprobante PDF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371600" y="449884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en el navegador del pasajero.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99632" y="4050792"/>
            <a:ext cx="5138928" cy="841248"/>
          </a:xfrm>
          <a:prstGeom prst="roundRect">
            <a:avLst>
              <a:gd name="adj" fmla="val 9783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55664" y="4361688"/>
            <a:ext cx="146304" cy="146304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27" name="Text 25"/>
          <p:cNvSpPr/>
          <p:nvPr/>
        </p:nvSpPr>
        <p:spPr>
          <a:xfrm>
            <a:off x="6748272" y="4169664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 de la ruta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748272" y="449884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y destino en mapa interactivo.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5001768"/>
            <a:ext cx="5138928" cy="841248"/>
          </a:xfrm>
          <a:prstGeom prst="roundRect">
            <a:avLst>
              <a:gd name="adj" fmla="val 9783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78992" y="5312664"/>
            <a:ext cx="146304" cy="146304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5120640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de administrador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371600" y="5449824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Rutas, precios, cupos y ocupación en vivo.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99632" y="5001768"/>
            <a:ext cx="5138928" cy="841248"/>
          </a:xfrm>
          <a:prstGeom prst="roundRect">
            <a:avLst>
              <a:gd name="adj" fmla="val 9783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55664" y="5312664"/>
            <a:ext cx="146304" cy="146304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5" name="Text 33"/>
          <p:cNvSpPr/>
          <p:nvPr/>
        </p:nvSpPr>
        <p:spPr>
          <a:xfrm>
            <a:off x="6748272" y="5120640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Respaldos cifrados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6748272" y="5449824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de la base cada hora, restaurable.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2960" y="5952744"/>
            <a:ext cx="5138928" cy="841248"/>
          </a:xfrm>
          <a:prstGeom prst="roundRect">
            <a:avLst>
              <a:gd name="adj" fmla="val 9783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78992" y="6263640"/>
            <a:ext cx="146304" cy="146304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600" y="6071616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Observabilidad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371600" y="6400800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en JSON, monitor de logs y de contenedores.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199632" y="5952744"/>
            <a:ext cx="5138928" cy="841248"/>
          </a:xfrm>
          <a:prstGeom prst="roundRect">
            <a:avLst>
              <a:gd name="adj" fmla="val 9783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55664" y="6263640"/>
            <a:ext cx="146304" cy="146304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43" name="Text 41"/>
          <p:cNvSpPr/>
          <p:nvPr/>
        </p:nvSpPr>
        <p:spPr>
          <a:xfrm>
            <a:off x="6748272" y="6071616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 en Docker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6748272" y="6400800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servicios que levantan con un comando.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86384"/>
            <a:ext cx="118872" cy="118872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6949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DE NEGOCIO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Tres fuentes de ingreso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6766560" cy="1207008"/>
          </a:xfrm>
          <a:prstGeom prst="roundRect">
            <a:avLst>
              <a:gd name="adj" fmla="val 6818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423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Comisión por pasaje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28620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porcentaje de cada tiquete vendido por la plataforma.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TRANSACCIONAL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6766560" cy="1207008"/>
          </a:xfrm>
          <a:prstGeom prst="roundRect">
            <a:avLst>
              <a:gd name="adj" fmla="val 6818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3794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Suscripción del operador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43000" y="42336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mensual por el panel de gestión de rutas y cupos.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RECURRENTE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4983480"/>
            <a:ext cx="6766560" cy="1207008"/>
          </a:xfrm>
          <a:prstGeom prst="roundRect">
            <a:avLst>
              <a:gd name="adj" fmla="val 6818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43000" y="5166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de demanda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43000" y="56052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ocupación que hoy ningún operador tiene.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5184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EXPANSIÓN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955280" y="237744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7955280" y="5897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de ingreso proyectada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18872" cy="118872"/>
          </a:xfrm>
          <a:prstGeom prst="ellipse">
            <a:avLst/>
          </a:prstGeom>
          <a:solidFill>
            <a:srgbClr val="4DD7A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D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DÓNDE ESTAMOS HOY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 funcionando, listo para el primer piloto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14400" y="2304288"/>
            <a:ext cx="310896" cy="310896"/>
          </a:xfrm>
          <a:prstGeom prst="ellipse">
            <a:avLst/>
          </a:prstGeom>
          <a:solidFill>
            <a:srgbClr val="0D2A22"/>
          </a:solidFill>
          <a:ln w="19050">
            <a:solidFill>
              <a:srgbClr val="4DD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2494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punta a punta: elegir asiento, pagar, recibir factura.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145536"/>
            <a:ext cx="310896" cy="310896"/>
          </a:xfrm>
          <a:prstGeom prst="ellipse">
            <a:avLst/>
          </a:prstGeom>
          <a:solidFill>
            <a:srgbClr val="0D2A22"/>
          </a:solidFill>
          <a:ln w="19050">
            <a:solidFill>
              <a:srgbClr val="4DD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0906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administrador completo: rutas, precios, cupos y ocupación.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3986784"/>
            <a:ext cx="310896" cy="310896"/>
          </a:xfrm>
          <a:prstGeom prst="ellipse">
            <a:avLst/>
          </a:prstGeom>
          <a:solidFill>
            <a:srgbClr val="0D2A22"/>
          </a:solidFill>
          <a:ln w="19050">
            <a:solidFill>
              <a:srgbClr val="4DD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931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validada bajo carga concurrente real.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4828032"/>
            <a:ext cx="310896" cy="310896"/>
          </a:xfrm>
          <a:prstGeom prst="ellipse">
            <a:avLst/>
          </a:prstGeom>
          <a:solidFill>
            <a:srgbClr val="0D2A22"/>
          </a:solidFill>
          <a:ln w="19050">
            <a:solidFill>
              <a:srgbClr val="4DD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773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reproducible y respaldos automáticos en marcha.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5715000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0D2A22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57150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D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parada:  </a:t>
            </a:r>
            <a:pPr indent="0" marL="0">
              <a:buNone/>
            </a:pPr>
            <a:r>
              <a:rPr lang="en-US" sz="1600" dirty="0">
                <a:solidFill>
                  <a:srgbClr val="EC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operador piloto en una ruta real, cobrando pasajes de verdad.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86384"/>
            <a:ext cx="118872" cy="118872"/>
          </a:xfrm>
          <a:prstGeom prst="ellipse">
            <a:avLst/>
          </a:prstGeom>
          <a:solidFill>
            <a:srgbClr val="FF9F43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6949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OPORTUNIDAD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Buscamos </a:t>
            </a:r>
            <a:pPr indent="0" marL="0">
              <a:buNone/>
            </a:pPr>
            <a:r>
              <a:rPr lang="en-US" sz="3300" b="1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 120.000</a:t>
            </a:r>
            <a:pPr indent="0" marL="0">
              <a:buNone/>
            </a:pPr>
            <a:r>
              <a:rPr lang="en-US" sz="33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para encender el motor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41248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pre-semilla. Cifra de referencia, ajustable según el plan acordado.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3447288" cy="3108960"/>
          </a:xfrm>
          <a:prstGeom prst="roundRect">
            <a:avLst>
              <a:gd name="adj" fmla="val 2647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15568" y="2834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133856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Pilotos con operadores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33856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a la calle con rutas reales y cerrar los primeros contratos.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90872" y="2606040"/>
            <a:ext cx="3447288" cy="3108960"/>
          </a:xfrm>
          <a:prstGeom prst="roundRect">
            <a:avLst>
              <a:gd name="adj" fmla="val 2647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2834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001768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Pasarela de pago real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01768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pagos y dejar el flujo de cobro listo para escalar.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58784" y="2606040"/>
            <a:ext cx="3447288" cy="3108960"/>
          </a:xfrm>
          <a:prstGeom prst="roundRect">
            <a:avLst>
              <a:gd name="adj" fmla="val 2647"/>
            </a:avLst>
          </a:prstGeom>
          <a:solidFill>
            <a:srgbClr val="112941"/>
          </a:solidFill>
          <a:ln w="12700">
            <a:solidFill>
              <a:srgbClr val="2140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51392" y="2834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869680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9680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manos para sostener el crecimiento sin romper lo que funciona.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eso pasamos de “funciona en mi máquina” a “está cobrando pasajes en una terminal”.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4DD7A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600200" y="219456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ReservaYa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F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cupo que reservas </a:t>
            </a:r>
            <a:pPr indent="0" marL="0">
              <a:buNone/>
            </a:pPr>
            <a:r>
              <a:rPr lang="en-US" sz="4000" b="1" dirty="0">
                <a:solidFill>
                  <a:srgbClr val="4DD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 el cupo que viajas.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F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Hablemos.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nicolasgarciaestrada2004@gmail.com   ·   github.com/nicolasgarciae/proyecto1corte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ReservaYa — Pitch</dc:title>
  <dc:subject>PptxGenJS Presentation</dc:subject>
  <dc:creator>ReservaYa</dc:creator>
  <cp:lastModifiedBy>ReservaYa</cp:lastModifiedBy>
  <cp:revision>1</cp:revision>
  <dcterms:created xsi:type="dcterms:W3CDTF">2026-06-04T19:34:11Z</dcterms:created>
  <dcterms:modified xsi:type="dcterms:W3CDTF">2026-06-04T19:34:11Z</dcterms:modified>
</cp:coreProperties>
</file>